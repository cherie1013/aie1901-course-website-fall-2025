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323" r:id="rId4"/>
    <p:sldId id="337" r:id="rId5"/>
    <p:sldId id="335" r:id="rId6"/>
    <p:sldId id="339" r:id="rId7"/>
    <p:sldId id="353" r:id="rId8"/>
    <p:sldId id="328" r:id="rId9"/>
    <p:sldId id="355" r:id="rId10"/>
    <p:sldId id="356" r:id="rId11"/>
    <p:sldId id="357" r:id="rId12"/>
    <p:sldId id="358" r:id="rId13"/>
    <p:sldId id="359" r:id="rId14"/>
    <p:sldId id="354" r:id="rId15"/>
    <p:sldId id="329" r:id="rId16"/>
    <p:sldId id="360" r:id="rId17"/>
    <p:sldId id="350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5" autoAdjust="0"/>
    <p:restoredTop sz="87550" autoAdjust="0"/>
  </p:normalViewPr>
  <p:slideViewPr>
    <p:cSldViewPr snapToGrid="0" showGuides="1">
      <p:cViewPr varScale="1">
        <p:scale>
          <a:sx n="51" d="100"/>
          <a:sy n="51" d="100"/>
        </p:scale>
        <p:origin x="60" y="1020"/>
      </p:cViewPr>
      <p:guideLst>
        <p:guide orient="horz" pos="2160"/>
        <p:guide pos="3840"/>
        <p:guide pos="688"/>
        <p:guide orient="horz" pos="11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66207-A66D-4567-8FE5-A955D0FEE3E7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EC959-1E4D-4BFA-BB3C-6D292178C0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798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271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C287-356E-6CCA-A4FF-8025EC6B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300D6F-47AC-B241-E343-3A1FD7522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C48A8C-9438-6BFF-BF45-66FF10ABF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957E5-B18A-4443-B529-3AD8702F6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215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D42B-335E-AD12-C696-CA5A3DA4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1E17BE-2C45-DCE9-FA13-16CFAE4C8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6C5D7E-573E-048D-28CA-8692239A6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DB8971-938A-A984-F2C3-3DD4249FE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23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A8AC-A3CB-B5FC-3FC3-FBACA13B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44BCA3-7F96-D9D3-7272-4CE11F265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181586-5DC3-9487-D586-91A13AB5A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1A3D68-B6FD-D88B-4FAF-4D5A2F5E3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23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490F-473E-8CDC-B87F-B1DC16E8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DE4589-A4E2-2D82-0A27-6253F8D9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F02270-BB5C-7C4C-1E35-56B29823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FFFEA-B217-EFE2-6BD4-9C0FCE543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001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AD24-C8B5-9FA7-0DB3-AC0471EE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E98B6-1F7C-6519-84CB-6744BBE72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1723AC-D61F-4697-F00E-E915CB591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23BD2-3FEF-1A02-B477-5423DF38D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01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1A8B-9BC6-C537-DBD2-F4D9A1C4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14BFD8-1B42-2456-4407-4180E2B0E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84CBA5-33B4-5546-4AAE-ED75EE939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7A5E3D-AD56-6EC3-E5D6-0D932C49D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635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51F0-4C35-CAC8-6BD0-F1178BA8E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85A7C8-7570-155D-810F-90FEA0C88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616EE0-04EA-F7F9-EE83-E902AB73B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D26298-760F-78AD-7872-BE76593CE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55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74AE-6F74-1915-B93D-A3BA194A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2E8E59-83AC-ECC1-966C-7E1D26429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1DAC69-5067-E422-F902-630703771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E77C7-A2DD-59E0-B2C6-7222BA928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618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45C5-3AD9-207F-B7E4-7CA613DC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770958-DDC6-206F-C6CF-DF4638F09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8F0045-5B6D-6724-E5D3-1D272AA4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E82B18-9BCC-A399-673C-6261601EB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526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D968-AA02-DFDD-4D32-8DEB3AFA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E611D4-E0A2-9574-A78F-67390B8D2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B140B2-EB48-2104-4F79-EFB5B237A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6F5C1-B4A8-B638-E101-E25376D6E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34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3ADE-B6DF-BF79-3B4B-F8B310DD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928948-425D-CD74-498F-4CF026102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F3A610-4821-D1B2-BF16-C69930203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7D46B6-CD33-2A0C-CAB8-50BC17BF2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318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49DA-372C-F89D-0A29-6BCFE128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1DA564-8C79-8EA9-CB53-2A643EE52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C5BAEF-9E81-9C1B-3145-A4034431F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F64530-21CD-0E4C-2D29-BF52FA957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304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D9E6C-CB1D-742B-0932-6E12D3D8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376761-6D74-7B27-BFBF-BAAD1EE9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8C410D-6706-1B2A-C269-446115D89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None/>
            </a:pPr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37C7CC-85BF-98EA-0E55-494A68951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212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F02A2-E026-53B6-25C9-95DB4AC3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4E8C3A-9D8A-BB98-519A-08B516F15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CD4537-90D8-CFB6-AB12-57499B82F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EA032E-706F-91BC-A652-49C38B42B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193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3370-3246-EC86-2669-607AFF6A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A70472-F00F-E034-B646-424E3FF69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704871-B807-AD4C-51EE-7BC8E5044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7262E9-A551-76AA-ADB0-6EDAAD0C3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EC959-1E4D-4BFA-BB3C-6D292178C0F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812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44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9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07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77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5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74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97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59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04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00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21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9DDDF-383B-4310-9F82-8D65E9B366F6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2EB97-0BDD-4463-951D-F59822C47E0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FF01E9-60C6-8E78-F8B4-1E873DB9E92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15925" y="261938"/>
            <a:ext cx="6073776" cy="59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2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tso.cuhk.edu.cn/node/16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zhanzhanzhao@cuhk.edu.c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225080011@link.cuhk.edu.c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661C66B-7626-78D8-276F-D3726DE20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114" y="1896176"/>
            <a:ext cx="11208886" cy="4365737"/>
          </a:xfrm>
        </p:spPr>
        <p:txBody>
          <a:bodyPr>
            <a:noAutofit/>
          </a:bodyPr>
          <a:lstStyle/>
          <a:p>
            <a:pPr algn="l"/>
            <a:r>
              <a:rPr lang="en-US" altLang="zh-CN" sz="7200" b="1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 3: </a:t>
            </a:r>
            <a:br>
              <a:rPr lang="en-US" altLang="zh-CN" sz="7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7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on Heterogeneity and City Policy Impacts</a:t>
            </a:r>
            <a:br>
              <a:rPr lang="en-US" altLang="zh-CN" sz="66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zh-CN" sz="66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(AIE1901)</a:t>
            </a:r>
            <a:br>
              <a:rPr lang="en-US" altLang="zh-CN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zh-C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4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2781-825A-33FF-5F17-C6A7DAAF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E90AD7A-51D1-E59E-D87C-26C1BF3468CC}"/>
              </a:ext>
            </a:extLst>
          </p:cNvPr>
          <p:cNvSpPr txBox="1"/>
          <p:nvPr/>
        </p:nvSpPr>
        <p:spPr>
          <a:xfrm>
            <a:off x="961983" y="1159388"/>
            <a:ext cx="51715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Overview:</a:t>
            </a:r>
            <a:endParaRPr lang="zh-CN" altLang="en-US" sz="4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6C3B9E-61B9-F80B-32EB-549C1A696E60}"/>
              </a:ext>
            </a:extLst>
          </p:cNvPr>
          <p:cNvSpPr txBox="1"/>
          <p:nvPr/>
        </p:nvSpPr>
        <p:spPr>
          <a:xfrm>
            <a:off x="549472" y="2503938"/>
            <a:ext cx="106223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400"/>
              <a:t>Explore two extensions of the Schelling model — one adds altruistic agents, the other introduces a city planner.</a:t>
            </a:r>
          </a:p>
          <a:p>
            <a:pPr marL="514350" indent="-51435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400"/>
          </a:p>
          <a:p>
            <a:pPr marL="514350" indent="-51435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400"/>
              <a:t>Altruistic model: even a few altruists can catalyze a shift from overcrowded segregation to a balanced, half-filled state.</a:t>
            </a:r>
          </a:p>
          <a:p>
            <a:pPr marL="514350" indent="-51435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400"/>
          </a:p>
          <a:p>
            <a:pPr marL="514350" indent="-514350"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400"/>
              <a:t>Planner model: policy investment can reshape neighborhood attractiveness, sometimes leading to stronger centralization or segregation.</a:t>
            </a:r>
            <a:endParaRPr lang="en-US" altLang="zh-CN" sz="24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657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E4E9-F61F-4B0F-32E3-F4A2D034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D446E4A-3A75-3EF3-965D-6DFAFD4EE77D}"/>
              </a:ext>
            </a:extLst>
          </p:cNvPr>
          <p:cNvSpPr txBox="1"/>
          <p:nvPr/>
        </p:nvSpPr>
        <p:spPr>
          <a:xfrm>
            <a:off x="986183" y="1316408"/>
            <a:ext cx="10832578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altLang="zh-CN" sz="4000" b="1"/>
              <a:t>Before starting</a:t>
            </a:r>
          </a:p>
          <a:p>
            <a:pPr>
              <a:spcAft>
                <a:spcPts val="600"/>
              </a:spcAft>
              <a:buNone/>
            </a:pPr>
            <a:endParaRPr lang="en-US" altLang="zh-CN" sz="3600" b="1"/>
          </a:p>
          <a:p>
            <a:pPr marL="457200" indent="-457200"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800"/>
              <a:t>Please connect to the CUHKSZ Wi-Fi while on campus,</a:t>
            </a:r>
          </a:p>
          <a:p>
            <a:pPr>
              <a:spcAft>
                <a:spcPts val="6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/>
              <a:t> </a:t>
            </a:r>
          </a:p>
          <a:p>
            <a:pPr marL="457200" indent="-457200"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800"/>
              <a:t>Please use the school VPN when </a:t>
            </a:r>
            <a:r>
              <a:rPr lang="en-US" altLang="zh-CN" sz="2800" u="sng"/>
              <a:t>off </a:t>
            </a:r>
            <a:r>
              <a:rPr lang="en-US" altLang="zh-CN" sz="2800"/>
              <a:t>campus</a:t>
            </a:r>
          </a:p>
          <a:p>
            <a:pPr marL="457200" indent="-457200"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800"/>
          </a:p>
          <a:p>
            <a:pPr marL="457200" indent="-457200"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800"/>
              <a:t>For more details: </a:t>
            </a:r>
            <a:r>
              <a:rPr lang="en-US" altLang="zh-CN" sz="2800">
                <a:hlinkClick r:id="rId3"/>
              </a:rPr>
              <a:t>https://itso.cuhk.edu.cn/node/169</a:t>
            </a:r>
            <a:endParaRPr lang="en-US" altLang="zh-CN" sz="2800"/>
          </a:p>
          <a:p>
            <a:pPr>
              <a:spcAft>
                <a:spcPts val="600"/>
              </a:spcAft>
              <a:buNone/>
            </a:pPr>
            <a:endParaRPr lang="en-US" altLang="zh-CN" sz="2800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30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48A6-AC5D-5441-8BA4-C704AEEC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768C2CA-FBD5-D923-230C-EEC69EC53113}"/>
              </a:ext>
            </a:extLst>
          </p:cNvPr>
          <p:cNvSpPr txBox="1"/>
          <p:nvPr/>
        </p:nvSpPr>
        <p:spPr>
          <a:xfrm>
            <a:off x="963412" y="585367"/>
            <a:ext cx="110269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endParaRPr lang="en-US" altLang="zh-CN" sz="4000" b="1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altLang="zh-CN" sz="4000" b="1">
                <a:solidFill>
                  <a:schemeClr val="accent1">
                    <a:lumMod val="50000"/>
                  </a:schemeClr>
                </a:solidFill>
              </a:rPr>
              <a:t>Step 1: </a:t>
            </a:r>
            <a:r>
              <a:rPr lang="en-US" altLang="zh-CN" sz="4000" b="1"/>
              <a:t>Get lab files</a:t>
            </a:r>
          </a:p>
          <a:p>
            <a:pPr marL="514350" indent="-514350">
              <a:spcAft>
                <a:spcPts val="1200"/>
              </a:spcAft>
              <a:buAutoNum type="arabicPeriod"/>
            </a:pPr>
            <a:endParaRPr lang="en-US" altLang="zh-CN" sz="3200"/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/>
              <a:t>In your browser, go to Blackboard.</a:t>
            </a: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endParaRPr lang="en-US" altLang="zh-CN" sz="2400"/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/>
              <a:t>Locate </a:t>
            </a:r>
            <a:r>
              <a:rPr lang="en-US" altLang="zh-CN" sz="2400" b="1"/>
              <a:t>Lab 3 </a:t>
            </a:r>
            <a:r>
              <a:rPr lang="en-US" altLang="zh-CN" sz="2400"/>
              <a:t>and download the </a:t>
            </a:r>
            <a:r>
              <a:rPr lang="en-US" altLang="zh-CN" sz="2400" b="1" u="sng">
                <a:solidFill>
                  <a:schemeClr val="accent1">
                    <a:lumMod val="50000"/>
                  </a:schemeClr>
                </a:solidFill>
              </a:rPr>
              <a:t>Schelling-simulation-Lab3-Altruists.zip</a:t>
            </a:r>
            <a:r>
              <a:rPr lang="en-US" altLang="zh-CN" sz="2400"/>
              <a:t>					                             and the </a:t>
            </a:r>
            <a:r>
              <a:rPr lang="en-US" altLang="zh-CN" sz="2400" b="1" u="sng">
                <a:solidFill>
                  <a:schemeClr val="accent2"/>
                </a:solidFill>
              </a:rPr>
              <a:t>Schelling-simulation-Lab3-Investment.zip</a:t>
            </a:r>
            <a:endParaRPr lang="en-US" altLang="zh-CN" sz="2400">
              <a:solidFill>
                <a:schemeClr val="accent2"/>
              </a:solidFill>
            </a:endParaRP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endParaRPr lang="en-US" altLang="zh-CN" sz="2400" b="1"/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 b="1" u="sng"/>
              <a:t>Unzip</a:t>
            </a:r>
            <a:r>
              <a:rPr lang="en-US" altLang="zh-CN" sz="2400" b="1"/>
              <a:t> this two files in your PC </a:t>
            </a: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( keep the original filenames and file structure ).</a:t>
            </a:r>
          </a:p>
        </p:txBody>
      </p:sp>
    </p:spTree>
    <p:extLst>
      <p:ext uri="{BB962C8B-B14F-4D97-AF65-F5344CB8AC3E}">
        <p14:creationId xmlns:p14="http://schemas.microsoft.com/office/powerpoint/2010/main" val="176430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E204-26BA-E076-2052-C3095C54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282C6EF-7BD8-ACF9-A028-2CEE15945A62}"/>
              </a:ext>
            </a:extLst>
          </p:cNvPr>
          <p:cNvSpPr txBox="1"/>
          <p:nvPr/>
        </p:nvSpPr>
        <p:spPr>
          <a:xfrm>
            <a:off x="768950" y="597455"/>
            <a:ext cx="7970098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endParaRPr lang="en-US" altLang="zh-CN" sz="3600" b="1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</a:rPr>
              <a:t>Step 2: </a:t>
            </a:r>
            <a:r>
              <a:rPr lang="en-US" altLang="zh-CN" sz="3600" b="1"/>
              <a:t>Upload Lab files to Google Drive</a:t>
            </a:r>
          </a:p>
          <a:p>
            <a:pPr marL="514350" indent="-514350">
              <a:spcAft>
                <a:spcPts val="1200"/>
              </a:spcAft>
              <a:buAutoNum type="arabicPeriod"/>
            </a:pPr>
            <a:endParaRPr lang="en-US" altLang="zh-CN" sz="2800"/>
          </a:p>
          <a:p>
            <a:pPr marL="457200" indent="-457200">
              <a:spcAft>
                <a:spcPts val="18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/>
              <a:t>In your browser, go to: </a:t>
            </a:r>
            <a:r>
              <a:rPr lang="en-US" altLang="zh-CN" sz="2400">
                <a:hlinkClick r:id="rId3"/>
              </a:rPr>
              <a:t>https://drive.google.com/</a:t>
            </a:r>
            <a:endParaRPr lang="en-US" altLang="zh-CN" sz="2400"/>
          </a:p>
          <a:p>
            <a:pPr marL="457200" indent="-457200">
              <a:spcAft>
                <a:spcPts val="18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/>
              <a:t>Click 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‘+ New</a:t>
            </a:r>
            <a:r>
              <a:rPr lang="en-US" altLang="zh-CN" sz="2400"/>
              <a:t>’ in the upper left corner.</a:t>
            </a:r>
          </a:p>
          <a:p>
            <a:pPr marL="457200" indent="-457200">
              <a:spcAft>
                <a:spcPts val="18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/>
              <a:t>Click ‘</a:t>
            </a: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Folder upload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’</a:t>
            </a:r>
          </a:p>
          <a:p>
            <a:pPr marL="457200" indent="-457200">
              <a:spcAft>
                <a:spcPts val="18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altLang="zh-CN" sz="2400"/>
              <a:t>Upload the two folders </a:t>
            </a:r>
            <a:r>
              <a:rPr lang="en-US" altLang="zh-CN" sz="2400" b="1" u="sng">
                <a:solidFill>
                  <a:schemeClr val="accent1">
                    <a:lumMod val="50000"/>
                  </a:schemeClr>
                </a:solidFill>
              </a:rPr>
              <a:t>one by one </a:t>
            </a:r>
            <a:r>
              <a:rPr lang="en-US" altLang="zh-CN" sz="2400"/>
              <a:t>you just unzipped.</a:t>
            </a: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8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23D64F8-94FD-3B32-3759-EC7181CCDF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594"/>
          <a:stretch>
            <a:fillRect/>
          </a:stretch>
        </p:blipFill>
        <p:spPr>
          <a:xfrm>
            <a:off x="8739048" y="1331843"/>
            <a:ext cx="1923084" cy="174871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702FE70-B40C-C9C3-C22D-098CD221C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048" y="1953299"/>
            <a:ext cx="3235273" cy="380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6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3527-A3B1-6D5A-5784-AA9E9385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8214F8E-E347-851F-4E6E-136EACBF614D}"/>
              </a:ext>
            </a:extLst>
          </p:cNvPr>
          <p:cNvSpPr txBox="1"/>
          <p:nvPr/>
        </p:nvSpPr>
        <p:spPr>
          <a:xfrm>
            <a:off x="778597" y="549429"/>
            <a:ext cx="861501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endParaRPr lang="en-US" altLang="zh-CN" sz="3600" b="1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</a:rPr>
              <a:t>Step 3: </a:t>
            </a:r>
            <a:r>
              <a:rPr lang="en-US" altLang="zh-CN" sz="3600" b="1"/>
              <a:t>Open the </a:t>
            </a:r>
            <a:r>
              <a:rPr lang="en-US" altLang="zh-CN" sz="3600" b="1" i="1">
                <a:solidFill>
                  <a:schemeClr val="accent1">
                    <a:lumMod val="50000"/>
                  </a:schemeClr>
                </a:solidFill>
              </a:rPr>
              <a:t>ipynb</a:t>
            </a:r>
            <a:r>
              <a:rPr lang="en-US" altLang="zh-CN" sz="3600" b="1"/>
              <a:t> in Google Colab.</a:t>
            </a:r>
          </a:p>
          <a:p>
            <a:pPr marL="514350" indent="-514350">
              <a:spcAft>
                <a:spcPts val="1200"/>
              </a:spcAft>
              <a:buAutoNum type="arabicPeriod"/>
            </a:pPr>
            <a:endParaRPr lang="en-US" altLang="zh-CN" sz="2800"/>
          </a:p>
          <a:p>
            <a:pPr>
              <a:spcAft>
                <a:spcPts val="1200"/>
              </a:spcAft>
            </a:pPr>
            <a:endParaRPr lang="en-US" altLang="zh-CN" sz="2800"/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400"/>
              <a:t>Double-click the 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ipynb</a:t>
            </a:r>
            <a:r>
              <a:rPr lang="en-US" altLang="zh-CN" sz="2400"/>
              <a:t> files.</a:t>
            </a: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400"/>
              <a:t>It will automatically open in </a:t>
            </a:r>
            <a:r>
              <a:rPr lang="en-US" altLang="zh-CN" sz="2400">
                <a:solidFill>
                  <a:schemeClr val="accent2"/>
                </a:solidFill>
              </a:rPr>
              <a:t>Google Colab.</a:t>
            </a: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400">
              <a:solidFill>
                <a:schemeClr val="accent2"/>
              </a:solidFill>
            </a:endParaRP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400">
              <a:solidFill>
                <a:schemeClr val="accent2"/>
              </a:solidFill>
            </a:endParaRPr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400"/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400"/>
          </a:p>
          <a:p>
            <a:pPr marL="457200" indent="-457200"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n"/>
            </a:pPr>
            <a:endParaRPr lang="en-US" altLang="zh-CN" sz="2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D91052-4610-C652-A188-D39824D6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236"/>
          <a:stretch>
            <a:fillRect/>
          </a:stretch>
        </p:blipFill>
        <p:spPr>
          <a:xfrm>
            <a:off x="6928444" y="2260159"/>
            <a:ext cx="3893102" cy="28264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B5CDB9-03D7-F6A1-1766-7CFFD572F010}"/>
              </a:ext>
            </a:extLst>
          </p:cNvPr>
          <p:cNvSpPr txBox="1"/>
          <p:nvPr/>
        </p:nvSpPr>
        <p:spPr>
          <a:xfrm>
            <a:off x="605603" y="5726453"/>
            <a:ext cx="9505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/>
              <a:t>💡 </a:t>
            </a:r>
            <a:r>
              <a:rPr lang="en-US" altLang="zh-CN" sz="2400"/>
              <a:t>Tip: Using Google Chrome may provide the smoothest experience 				  when accessing Google services.</a:t>
            </a:r>
          </a:p>
        </p:txBody>
      </p:sp>
    </p:spTree>
    <p:extLst>
      <p:ext uri="{BB962C8B-B14F-4D97-AF65-F5344CB8AC3E}">
        <p14:creationId xmlns:p14="http://schemas.microsoft.com/office/powerpoint/2010/main" val="2899220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1BFAD1-154A-C48A-1DD8-5BA10941AEEF}"/>
              </a:ext>
            </a:extLst>
          </p:cNvPr>
          <p:cNvSpPr txBox="1"/>
          <p:nvPr/>
        </p:nvSpPr>
        <p:spPr>
          <a:xfrm>
            <a:off x="612134" y="2476613"/>
            <a:ext cx="109677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1</a:t>
            </a:r>
            <a:endParaRPr lang="en-US" altLang="zh-CN" sz="4800" b="1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4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Giant Catalytic Effect of Altruists</a:t>
            </a:r>
          </a:p>
        </p:txBody>
      </p:sp>
    </p:spTree>
    <p:extLst>
      <p:ext uri="{BB962C8B-B14F-4D97-AF65-F5344CB8AC3E}">
        <p14:creationId xmlns:p14="http://schemas.microsoft.com/office/powerpoint/2010/main" val="376872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5136-CE44-D136-81A9-B83020D0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DC6D9E9-7C7B-0985-4D91-F0A577A8A12A}"/>
              </a:ext>
            </a:extLst>
          </p:cNvPr>
          <p:cNvSpPr txBox="1"/>
          <p:nvPr/>
        </p:nvSpPr>
        <p:spPr>
          <a:xfrm>
            <a:off x="322929" y="996104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Background and Research Question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AAFDB5-26DA-DEDD-8218-0EF0D7BA9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29" y="1694836"/>
            <a:ext cx="7796668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None/>
            </a:pP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Classic Schelling Model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2000"/>
              <a:t>Agents are </a:t>
            </a:r>
            <a:r>
              <a:rPr lang="en-US" altLang="zh-CN" sz="2000" b="1"/>
              <a:t>egoists</a:t>
            </a:r>
            <a:r>
              <a:rPr lang="en-US" altLang="zh-CN" sz="2000"/>
              <a:t>, moving only to </a:t>
            </a:r>
            <a:r>
              <a:rPr lang="en-US" altLang="zh-CN" sz="2000" b="1"/>
              <a:t>maximize personal satisfaction</a:t>
            </a:r>
            <a:r>
              <a:rPr lang="en-US" altLang="zh-CN" sz="200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2000"/>
              <a:t>Leads to </a:t>
            </a:r>
            <a:r>
              <a:rPr lang="en-US" altLang="zh-CN" sz="2000" b="1"/>
              <a:t>excessive segregation</a:t>
            </a:r>
            <a:r>
              <a:rPr lang="en-US" altLang="zh-CN" sz="2000"/>
              <a:t>, even when everyone prefers mixed neighborhoods.</a:t>
            </a:r>
          </a:p>
          <a:p>
            <a:pPr algn="just"/>
            <a:endParaRPr lang="en-US" altLang="zh-CN" sz="2000"/>
          </a:p>
          <a:p>
            <a:pPr algn="just">
              <a:buNone/>
            </a:pP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Extension in This Study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2000"/>
              <a:t>Introduces a </a:t>
            </a:r>
            <a:r>
              <a:rPr lang="en-US" altLang="zh-CN" sz="2000" b="1"/>
              <a:t>tiny fraction of altruistic agents</a:t>
            </a:r>
            <a:r>
              <a:rPr lang="en-US" altLang="zh-CN" sz="2000"/>
              <a:t> who move to </a:t>
            </a:r>
            <a:r>
              <a:rPr lang="en-US" altLang="zh-CN" sz="2000" b="1"/>
              <a:t>improve collective utility</a:t>
            </a:r>
            <a:r>
              <a:rPr lang="en-US" altLang="zh-CN" sz="2000"/>
              <a:t> rather than individual gain.</a:t>
            </a:r>
          </a:p>
          <a:p>
            <a:pPr algn="just"/>
            <a:endParaRPr lang="en-US" altLang="zh-CN" sz="2000"/>
          </a:p>
          <a:p>
            <a:pPr algn="just">
              <a:buNone/>
            </a:pP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Core Research Question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pPr marL="88900" indent="-88900" algn="just">
              <a:buFont typeface="Arial" panose="020B0604020202020204" pitchFamily="34" charset="0"/>
              <a:buChar char="•"/>
            </a:pPr>
            <a:r>
              <a:rPr lang="en-US" altLang="zh-CN" sz="2000"/>
              <a:t>What happens to collective outcomes when a small fraction of altruists is introduced into a population of egoists?</a:t>
            </a:r>
          </a:p>
          <a:p>
            <a:pPr marL="88900" indent="-88900" algn="just">
              <a:buFont typeface="Arial" panose="020B0604020202020204" pitchFamily="34" charset="0"/>
              <a:buChar char="•"/>
            </a:pPr>
            <a:r>
              <a:rPr lang="en-US" altLang="zh-CN" sz="2000"/>
              <a:t>Can this small group trigger a </a:t>
            </a:r>
            <a:r>
              <a:rPr lang="en-US" altLang="zh-CN" sz="2000" b="1"/>
              <a:t>“catalytic effect”</a:t>
            </a:r>
            <a:r>
              <a:rPr lang="en-US" altLang="zh-CN" sz="2000"/>
              <a:t>—a sudden transition of the entire system toward a socially optimal state?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3D1F7B-A04E-4CB3-A11A-A46D1620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350" y="2214690"/>
            <a:ext cx="3926855" cy="30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1E95-86B8-FD8D-0E45-C8D2AD7D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C8DDCD3-90BE-8C8F-2028-7014EA598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962" y="2447603"/>
            <a:ext cx="4461999" cy="330518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92F67A-785B-8FCE-8B6D-26D4DCCAECFD}"/>
              </a:ext>
            </a:extLst>
          </p:cNvPr>
          <p:cNvSpPr txBox="1"/>
          <p:nvPr/>
        </p:nvSpPr>
        <p:spPr>
          <a:xfrm>
            <a:off x="322929" y="996104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Model Structure and Key Assumptions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6309ED-0180-E732-390D-74B749748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29" y="1791871"/>
            <a:ext cx="8078551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1. City and Agents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/>
              <a:t>The city is divided into </a:t>
            </a:r>
            <a:r>
              <a:rPr lang="en-US" altLang="zh-CN" b="1"/>
              <a:t>Q blocks (neighborhoods)</a:t>
            </a:r>
            <a:r>
              <a:rPr lang="en-US" altLang="zh-CN"/>
              <a:t>, each with a capacity of </a:t>
            </a:r>
            <a:r>
              <a:rPr lang="en-US" altLang="zh-CN" b="1"/>
              <a:t>H agents</a:t>
            </a:r>
            <a:r>
              <a:rPr lang="en-US" altLang="zh-CN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/>
              <a:t>The </a:t>
            </a:r>
            <a:r>
              <a:rPr lang="en-US" altLang="zh-CN" b="1"/>
              <a:t>overall density</a:t>
            </a:r>
            <a:r>
              <a:rPr lang="en-US" altLang="zh-CN"/>
              <a:t> is ρ₀, representing the initial fraction of occupied sites.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/>
              <a:t>Each block’s density is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/>
          </a:p>
          <a:p>
            <a:r>
              <a:rPr lang="en-GB" altLang="zh-CN" b="1">
                <a:solidFill>
                  <a:schemeClr val="accent1">
                    <a:lumMod val="50000"/>
                  </a:schemeClr>
                </a:solidFill>
              </a:rPr>
              <a:t>2. Utility Function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Agents are happiest when their neighborhood is half full — neither </a:t>
            </a:r>
            <a:r>
              <a:rPr lang="en-US" altLang="zh-CN" b="1"/>
              <a:t>too empty nor too crowded.</a:t>
            </a:r>
          </a:p>
          <a:p>
            <a:endParaRPr lang="en-US" altLang="zh-CN"/>
          </a:p>
          <a:p>
            <a:pPr>
              <a:buNone/>
            </a:pP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3. Behavior Rules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/>
              <a:t>Egoists:</a:t>
            </a:r>
            <a:r>
              <a:rPr lang="en-US" altLang="zh-CN"/>
              <a:t> Move only if their </a:t>
            </a:r>
            <a:r>
              <a:rPr lang="en-US" altLang="zh-CN" b="1"/>
              <a:t>own utility increases</a:t>
            </a:r>
            <a:r>
              <a:rPr lang="en-US" altLang="zh-CN"/>
              <a:t> (Δu &gt; 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/>
              <a:t>Altruists:</a:t>
            </a:r>
            <a:r>
              <a:rPr lang="en-US" altLang="zh-CN"/>
              <a:t> Move only if the </a:t>
            </a:r>
            <a:r>
              <a:rPr lang="en-US" altLang="zh-CN" b="1"/>
              <a:t>total system utility increases</a:t>
            </a:r>
            <a:r>
              <a:rPr lang="en-US" altLang="zh-CN"/>
              <a:t> (ΔU &gt; 0),</a:t>
            </a:r>
            <a:br>
              <a:rPr lang="en-US" altLang="zh-CN"/>
            </a:br>
            <a:r>
              <a:rPr lang="en-US" altLang="zh-CN"/>
              <a:t>where </a:t>
            </a:r>
          </a:p>
          <a:p>
            <a:endParaRPr lang="en-US" altLang="zh-CN" sz="24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AF389D-A84C-9E3B-3252-A70110654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390" y="2626581"/>
            <a:ext cx="1112337" cy="3068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62D07D-89A7-FF2B-DDFA-28FC51FDBA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73" t="20329"/>
          <a:stretch>
            <a:fillRect/>
          </a:stretch>
        </p:blipFill>
        <p:spPr>
          <a:xfrm>
            <a:off x="1718797" y="3457746"/>
            <a:ext cx="2484350" cy="6711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33BB84-1048-D2B6-487A-4E2E3349E0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" y="5695588"/>
            <a:ext cx="1392825" cy="33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0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08C4-2ACE-2B9D-3DCF-F6A80264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442F434-CDEC-0FA2-D380-0B168DBA771E}"/>
              </a:ext>
            </a:extLst>
          </p:cNvPr>
          <p:cNvSpPr txBox="1"/>
          <p:nvPr/>
        </p:nvSpPr>
        <p:spPr>
          <a:xfrm>
            <a:off x="322929" y="996104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Code Structure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2D0B574F-B315-DA64-19C2-1D7C40EC8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259" y="1561303"/>
                <a:ext cx="7700416" cy="4296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US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1. Initialization</a:t>
                </a:r>
                <a:endParaRPr lang="en-US" altLang="zh-CN" sz="200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/>
                  <a:t>Randomly generates </a:t>
                </a:r>
                <a:r>
                  <a:rPr lang="en-US" altLang="zh-CN" b="1"/>
                  <a:t>two types of agents</a:t>
                </a:r>
                <a:r>
                  <a:rPr lang="en-US" altLang="zh-CN"/>
                  <a:t> — egoists and altruists.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/>
                  <a:t>These two groups will later follow </a:t>
                </a:r>
                <a:r>
                  <a:rPr lang="en-US" altLang="zh-CN" b="1"/>
                  <a:t>different moving rules</a:t>
                </a:r>
                <a:r>
                  <a:rPr lang="en-US" altLang="zh-CN"/>
                  <a:t> in the simulation loop.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/>
              </a:p>
              <a:p>
                <a:pPr>
                  <a:buNone/>
                </a:pPr>
                <a:r>
                  <a:rPr lang="en-US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2. Main Loop Logic</a:t>
                </a:r>
                <a:endParaRPr lang="en-US" altLang="zh-CN" sz="20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/>
                  <a:t>Randomly selects </a:t>
                </a:r>
                <a:r>
                  <a:rPr lang="en-US" altLang="zh-CN" b="1"/>
                  <a:t>an agent and a target block</a:t>
                </a:r>
                <a:r>
                  <a:rPr lang="en-US" altLang="zh-CN"/>
                  <a:t> to move to.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/>
              </a:p>
              <a:p>
                <a:pPr>
                  <a:buNone/>
                </a:pPr>
                <a:r>
                  <a:rPr lang="en-GB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3. Movement Rules</a:t>
                </a:r>
                <a:endParaRPr lang="en-GB" altLang="zh-CN" sz="20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zh-CN" altLang="en-US" b="1"/>
                  <a:t>①</a:t>
                </a:r>
                <a:r>
                  <a:rPr lang="en-GB" altLang="zh-CN" b="1"/>
                  <a:t>Egoist:</a:t>
                </a:r>
                <a:endParaRPr lang="en-GB" altLang="zh-CN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/>
                  <a:t>Moves </a:t>
                </a:r>
                <a:r>
                  <a:rPr lang="en-GB" altLang="zh-CN" b="1"/>
                  <a:t>only if personal utility increases</a:t>
                </a:r>
                <a:r>
                  <a:rPr lang="en-GB" altLang="zh-CN"/>
                  <a:t> (</a:t>
                </a:r>
                <a:r>
                  <a:rPr lang="el-GR" altLang="zh-CN"/>
                  <a:t>Δ</a:t>
                </a:r>
                <a:r>
                  <a:rPr lang="en-GB" altLang="zh-CN"/>
                  <a:t>u &gt; 0).</a:t>
                </a:r>
                <a:br>
                  <a:rPr lang="en-GB" altLang="zh-CN"/>
                </a:br>
                <a:r>
                  <a:rPr lang="zh-CN" altLang="en-US"/>
                  <a:t>②</a:t>
                </a:r>
                <a:r>
                  <a:rPr lang="en-GB" altLang="zh-CN" b="1"/>
                  <a:t>Altruist:</a:t>
                </a:r>
                <a:endParaRPr lang="en-GB" altLang="zh-CN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/>
                  <a:t>Calculates the change in </a:t>
                </a:r>
                <a:r>
                  <a:rPr lang="en-GB" altLang="zh-CN" b="1"/>
                  <a:t>global utility, </a:t>
                </a:r>
                <a:r>
                  <a:rPr lang="en-GB" altLang="zh-CN"/>
                  <a:t>Moves </a:t>
                </a:r>
                <a:r>
                  <a:rPr lang="en-GB" altLang="zh-CN" b="1"/>
                  <a:t>only if </a:t>
                </a:r>
                <a:r>
                  <a:rPr lang="el-GR" altLang="zh-CN" b="1"/>
                  <a:t>Δ</a:t>
                </a:r>
                <a:r>
                  <a:rPr lang="en-GB" altLang="zh-CN" b="1"/>
                  <a:t>U &gt; 0</a:t>
                </a:r>
                <a:r>
                  <a:rPr lang="en-GB" altLang="zh-CN"/>
                  <a:t>.</a:t>
                </a:r>
                <a:br>
                  <a:rPr lang="en-GB" altLang="zh-CN"/>
                </a:br>
                <a14:m>
                  <m:oMath xmlns:m="http://schemas.openxmlformats.org/officeDocument/2006/math">
                    <m:r>
                      <a:rPr lang="zh-CN" alt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altLang="zh-CN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nary>
                    <m:r>
                      <a:rPr lang="zh-CN" altLang="ar-A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/>
                  <a:t>.</a:t>
                </a:r>
                <a:endParaRPr lang="en-US" altLang="zh-CN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/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2D0B574F-B315-DA64-19C2-1D7C40EC8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259" y="1561303"/>
                <a:ext cx="7700416" cy="4296304"/>
              </a:xfrm>
              <a:prstGeom prst="rect">
                <a:avLst/>
              </a:prstGeom>
              <a:blipFill>
                <a:blip r:embed="rId3"/>
                <a:stretch>
                  <a:fillRect l="-871" t="-284" r="-4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11C5B346-FAAE-5C67-8DF0-19E8D536C4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5" t="-5366"/>
          <a:stretch>
            <a:fillRect/>
          </a:stretch>
        </p:blipFill>
        <p:spPr>
          <a:xfrm>
            <a:off x="6668932" y="1768463"/>
            <a:ext cx="5206809" cy="3505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F815BC-D970-6D95-C0B1-F6651CD6D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932" y="2991328"/>
            <a:ext cx="4922153" cy="7181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E600C77-98F6-534D-CBF7-862D67489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932" y="3992766"/>
            <a:ext cx="3048426" cy="6620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DE23F99-E068-DFDA-9692-B2FA863A95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8932" y="5259519"/>
            <a:ext cx="3746101" cy="798994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DB4C684-DF2B-ADD4-01EA-53E29CEC7CCC}"/>
              </a:ext>
            </a:extLst>
          </p:cNvPr>
          <p:cNvCxnSpPr>
            <a:cxnSpLocks/>
          </p:cNvCxnSpPr>
          <p:nvPr/>
        </p:nvCxnSpPr>
        <p:spPr>
          <a:xfrm>
            <a:off x="2345397" y="1943735"/>
            <a:ext cx="431436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83C7A17-9C56-50BF-1357-E2EE74562CC6}"/>
              </a:ext>
            </a:extLst>
          </p:cNvPr>
          <p:cNvCxnSpPr>
            <a:cxnSpLocks/>
          </p:cNvCxnSpPr>
          <p:nvPr/>
        </p:nvCxnSpPr>
        <p:spPr>
          <a:xfrm>
            <a:off x="3300090" y="3051787"/>
            <a:ext cx="329894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F50392C-4FF3-E275-2A75-60713F8AFE92}"/>
              </a:ext>
            </a:extLst>
          </p:cNvPr>
          <p:cNvCxnSpPr>
            <a:cxnSpLocks/>
          </p:cNvCxnSpPr>
          <p:nvPr/>
        </p:nvCxnSpPr>
        <p:spPr>
          <a:xfrm>
            <a:off x="3300090" y="4166714"/>
            <a:ext cx="329894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6FB808D-1A2B-BBE5-4F8B-FC8166FA6B7F}"/>
              </a:ext>
            </a:extLst>
          </p:cNvPr>
          <p:cNvCxnSpPr>
            <a:cxnSpLocks/>
          </p:cNvCxnSpPr>
          <p:nvPr/>
        </p:nvCxnSpPr>
        <p:spPr>
          <a:xfrm>
            <a:off x="3252442" y="5439770"/>
            <a:ext cx="329894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6464926-6C0B-228B-25A3-24FA730B5768}"/>
              </a:ext>
            </a:extLst>
          </p:cNvPr>
          <p:cNvSpPr txBox="1"/>
          <p:nvPr/>
        </p:nvSpPr>
        <p:spPr>
          <a:xfrm>
            <a:off x="322929" y="5857607"/>
            <a:ext cx="6094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Updates both the occupancy and agent position after each move. The simulation stops after a fixed number of steps.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778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C63E-12D3-31AD-BEB1-DCF2E2B1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8D635AD-D705-CD74-CD16-07616A0A54C7}"/>
              </a:ext>
            </a:extLst>
          </p:cNvPr>
          <p:cNvSpPr txBox="1"/>
          <p:nvPr/>
        </p:nvSpPr>
        <p:spPr>
          <a:xfrm>
            <a:off x="322929" y="996104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Simulation and Results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D14FDD5-921D-9517-5DCC-B19255E3A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929" y="1720695"/>
                <a:ext cx="7700416" cy="46718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GB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Parameter Settings</a:t>
                </a: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zh-CN"/>
                  <a:t>The city has 100 neighborhoods, each holding up to 100 agents.</a:t>
                </a: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zh-CN"/>
                  <a:t>The initial density is 40%, and 10% of agents are altruists.</a:t>
                </a:r>
              </a:p>
              <a:p>
                <a:endParaRPr lang="en-US" altLang="zh-CN"/>
              </a:p>
              <a:p>
                <a:endParaRPr lang="en-US" altLang="zh-CN"/>
              </a:p>
              <a:p>
                <a:pPr>
                  <a:buNone/>
                </a:pPr>
                <a:r>
                  <a:rPr lang="en-GB" altLang="zh-CN" b="1">
                    <a:solidFill>
                      <a:schemeClr val="accent1">
                        <a:lumMod val="50000"/>
                      </a:schemeClr>
                    </a:solidFill>
                  </a:rPr>
                  <a:t>2. Key Metric: Social Welfare</a:t>
                </a:r>
                <a:endParaRPr lang="en-GB" altLang="zh-CN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altLang="zh-CN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altLang="zh-CN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ar-AE" b="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AE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ar-AE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zh-CN" b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/>
                  <a:t>Measures the </a:t>
                </a:r>
                <a:r>
                  <a:rPr lang="en-GB" altLang="zh-CN" b="1"/>
                  <a:t>overall happiness</a:t>
                </a:r>
                <a:r>
                  <a:rPr lang="en-GB" altLang="zh-CN"/>
                  <a:t> of the system.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/>
                  <a:t>The closer each block’s density is to </a:t>
                </a:r>
                <a:r>
                  <a:rPr lang="en-GB" altLang="zh-CN" b="1"/>
                  <a:t>half full</a:t>
                </a:r>
                <a:r>
                  <a:rPr lang="en-GB" altLang="zh-CN"/>
                  <a:t>, the higher the total welfare.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GB" altLang="zh-CN" b="1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en-US" altLang="zh-CN" b="1">
                    <a:solidFill>
                      <a:schemeClr val="accent1">
                        <a:lumMod val="50000"/>
                      </a:schemeClr>
                    </a:solidFill>
                  </a:rPr>
                  <a:t>3. Experiment Loop and Visualization</a:t>
                </a:r>
              </a:p>
              <a:p>
                <a:endParaRPr lang="en-US" altLang="zh-CN"/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zh-CN"/>
                  <a:t>Every few steps, compute and record social welfare.</a:t>
                </a: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zh-CN"/>
                  <a:t>Plot “Social Welfare over Time” to show how the system evolves and stabilizes.</a:t>
                </a:r>
                <a:endParaRPr lang="en-GB" altLang="zh-CN"/>
              </a:p>
              <a:p>
                <a:endParaRPr lang="en-US" altLang="zh-CN"/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D14FDD5-921D-9517-5DCC-B19255E3A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929" y="1720695"/>
                <a:ext cx="7700416" cy="4671856"/>
              </a:xfrm>
              <a:prstGeom prst="rect">
                <a:avLst/>
              </a:prstGeom>
              <a:blipFill>
                <a:blip r:embed="rId3"/>
                <a:stretch>
                  <a:fillRect l="-871" t="-39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C82556A4-4189-4FEB-AA71-50445B6B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12" y="1772689"/>
            <a:ext cx="4786633" cy="10301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E988EF-37BE-CF4D-1C0E-1006FA1F9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189" y="4950136"/>
            <a:ext cx="7786173" cy="53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2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29D2-F74C-B0D6-D026-1B469DF1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14D419D-FBD2-AC20-F08B-FEAD43592B74}"/>
              </a:ext>
            </a:extLst>
          </p:cNvPr>
          <p:cNvSpPr txBox="1"/>
          <p:nvPr/>
        </p:nvSpPr>
        <p:spPr>
          <a:xfrm>
            <a:off x="322929" y="996104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Experimental Findings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D5CBCD-EBFF-D8AB-DC9D-848121DEAA43}"/>
              </a:ext>
            </a:extLst>
          </p:cNvPr>
          <p:cNvSpPr txBox="1"/>
          <p:nvPr/>
        </p:nvSpPr>
        <p:spPr>
          <a:xfrm>
            <a:off x="322930" y="1844675"/>
            <a:ext cx="713665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</a:rPr>
              <a:t>Main Results</a:t>
            </a:r>
            <a:endParaRPr lang="en-US" altLang="zh-CN" sz="20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000"/>
              <a:t>Even with a </a:t>
            </a:r>
            <a:r>
              <a:rPr lang="en-US" altLang="zh-CN" sz="2000" b="1"/>
              <a:t>small fraction of altruists (low p)</a:t>
            </a:r>
            <a:r>
              <a:rPr lang="en-US" altLang="zh-CN" sz="2000"/>
              <a:t>, the system shifts from the </a:t>
            </a:r>
            <a:r>
              <a:rPr lang="en-US" altLang="zh-CN" sz="2000" b="1"/>
              <a:t>overcrowded state</a:t>
            </a:r>
            <a:r>
              <a:rPr lang="en-US" altLang="zh-CN" sz="2000"/>
              <a:t> created by egoists to the </a:t>
            </a:r>
            <a:r>
              <a:rPr lang="en-US" altLang="zh-CN" sz="2000" b="1"/>
              <a:t>optimal configuration</a:t>
            </a:r>
            <a:r>
              <a:rPr lang="en-US" altLang="zh-CN" sz="2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/>
          </a:p>
          <a:p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</a:rPr>
              <a:t>The response is nonlinear: </a:t>
            </a:r>
          </a:p>
          <a:p>
            <a:r>
              <a:rPr lang="en-US" altLang="zh-CN" sz="2000"/>
              <a:t>the improvement in utility is </a:t>
            </a:r>
            <a:r>
              <a:rPr lang="en-US" altLang="zh-CN" b="1"/>
              <a:t>nonlinear</a:t>
            </a:r>
            <a:r>
              <a:rPr lang="en-US" altLang="zh-CN" sz="2000"/>
              <a:t>, but happens through a </a:t>
            </a:r>
            <a:r>
              <a:rPr lang="en-US" altLang="zh-CN" sz="2000" b="1"/>
              <a:t>phase transition</a:t>
            </a:r>
            <a:r>
              <a:rPr lang="en-US" altLang="zh-CN" sz="2000"/>
              <a:t> — a sudden jump in social welfare.</a:t>
            </a:r>
          </a:p>
          <a:p>
            <a:endParaRPr lang="en-US" altLang="zh-CN" sz="20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</a:rPr>
              <a:t>Mechanism:</a:t>
            </a:r>
            <a:br>
              <a:rPr lang="en-US" altLang="zh-CN" sz="2000"/>
            </a:br>
            <a:r>
              <a:rPr lang="en-US" altLang="zh-CN" sz="2000"/>
              <a:t>Altruists act as </a:t>
            </a:r>
            <a:r>
              <a:rPr lang="en-US" altLang="zh-CN" sz="2000" b="1"/>
              <a:t>catalysts</a:t>
            </a:r>
            <a:r>
              <a:rPr lang="en-US" altLang="zh-CN" sz="2000"/>
              <a:t> — their movements open new migration paths, guiding egoists to redistribute themselves and reach a better collective outcome.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27D2EC-EE35-A9A4-49BE-4CDDB509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740" y="1989052"/>
            <a:ext cx="4943260" cy="330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44E7B1-A8BA-CE75-ED85-C7EAD23AE557}"/>
              </a:ext>
            </a:extLst>
          </p:cNvPr>
          <p:cNvSpPr txBox="1"/>
          <p:nvPr/>
        </p:nvSpPr>
        <p:spPr>
          <a:xfrm>
            <a:off x="695325" y="2276491"/>
            <a:ext cx="1096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EB24BA-55AC-913D-78A0-641565898546}"/>
              </a:ext>
            </a:extLst>
          </p:cNvPr>
          <p:cNvSpPr txBox="1"/>
          <p:nvPr/>
        </p:nvSpPr>
        <p:spPr>
          <a:xfrm>
            <a:off x="882099" y="3075057"/>
            <a:ext cx="109677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if city planners could invest in certain blocks?</a:t>
            </a:r>
          </a:p>
        </p:txBody>
      </p:sp>
    </p:spTree>
    <p:extLst>
      <p:ext uri="{BB962C8B-B14F-4D97-AF65-F5344CB8AC3E}">
        <p14:creationId xmlns:p14="http://schemas.microsoft.com/office/powerpoint/2010/main" val="8340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75F0-8F22-3F10-6D1C-972E5E41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1462643-7732-6417-DCAE-EF633C5A544D}"/>
              </a:ext>
            </a:extLst>
          </p:cNvPr>
          <p:cNvSpPr txBox="1"/>
          <p:nvPr/>
        </p:nvSpPr>
        <p:spPr>
          <a:xfrm>
            <a:off x="322929" y="996104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Introducing a City Planner (Policy Intervention)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6BA99F87-5C7F-A8AE-494C-5E35FCB82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308" y="1991892"/>
                <a:ext cx="12009120" cy="39505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GB" altLang="zh-CN" sz="2400" b="1">
                    <a:solidFill>
                      <a:schemeClr val="accent1">
                        <a:lumMod val="50000"/>
                      </a:schemeClr>
                    </a:solidFill>
                  </a:rPr>
                  <a:t>1. Model Extension Idea</a:t>
                </a:r>
                <a:endParaRPr lang="en-GB" altLang="zh-CN" sz="24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400"/>
                  <a:t>A new </a:t>
                </a:r>
                <a:r>
                  <a:rPr lang="en-GB" altLang="zh-CN" sz="2400" b="1"/>
                  <a:t>macro-level agent</a:t>
                </a:r>
                <a:r>
                  <a:rPr lang="en-GB" altLang="zh-CN" sz="2400"/>
                  <a:t> is added — the </a:t>
                </a:r>
                <a:r>
                  <a:rPr lang="en-GB" altLang="zh-CN" sz="2400" b="1"/>
                  <a:t>City Planner</a:t>
                </a:r>
                <a:r>
                  <a:rPr lang="en-GB" altLang="zh-CN" sz="240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400"/>
                  <a:t>The planner can </a:t>
                </a:r>
                <a:r>
                  <a:rPr lang="en-GB" altLang="zh-CN" sz="2400" b="1"/>
                  <a:t>“invest”</a:t>
                </a:r>
                <a:r>
                  <a:rPr lang="en-GB" altLang="zh-CN" sz="2400"/>
                  <a:t> in specific neighborhoods to modify their </a:t>
                </a:r>
                <a:r>
                  <a:rPr lang="en-GB" altLang="zh-CN" sz="2400" b="1"/>
                  <a:t>utility functions</a:t>
                </a:r>
                <a:r>
                  <a:rPr lang="en-GB" altLang="zh-CN" sz="2400"/>
                  <a:t>,</a:t>
                </a:r>
                <a:br>
                  <a:rPr lang="en-GB" altLang="zh-CN" sz="2400"/>
                </a:br>
                <a:r>
                  <a:rPr lang="en-GB" altLang="zh-CN" sz="2400"/>
                  <a:t>making some areas </a:t>
                </a:r>
                <a:r>
                  <a:rPr lang="en-GB" altLang="zh-CN" sz="2400" b="1"/>
                  <a:t>more attractive</a:t>
                </a:r>
                <a:r>
                  <a:rPr lang="en-GB" altLang="zh-CN" sz="2400"/>
                  <a:t> to residents.</a:t>
                </a:r>
              </a:p>
              <a:p>
                <a:pPr>
                  <a:buNone/>
                </a:pPr>
                <a:endParaRPr lang="en-GB" altLang="zh-CN" sz="2400" b="1"/>
              </a:p>
              <a:p>
                <a:pPr>
                  <a:buNone/>
                </a:pPr>
                <a:r>
                  <a:rPr lang="en-GB" altLang="zh-CN" sz="2400" b="1">
                    <a:solidFill>
                      <a:schemeClr val="accent1">
                        <a:lumMod val="50000"/>
                      </a:schemeClr>
                    </a:solidFill>
                  </a:rPr>
                  <a:t>2. Mathematical Expression</a:t>
                </a:r>
                <a:endParaRPr lang="en-GB" altLang="zh-CN" sz="24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zh-CN" altLang="ar-A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ar-AE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ar-AE" altLang="zh-CN" sz="2400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ar-A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ar-AE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zh-CN" sz="240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40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ar-AE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zh-CN" sz="2400"/>
                  <a:t>is the original utility of block </a:t>
                </a:r>
                <a:r>
                  <a:rPr lang="en-GB" altLang="zh-CN" sz="2400" i="1"/>
                  <a:t>q</a:t>
                </a:r>
                <a:r>
                  <a:rPr lang="en-GB" altLang="zh-CN" sz="2400"/>
                  <a:t>,</a:t>
                </a:r>
                <a:br>
                  <a:rPr lang="en-GB" altLang="zh-CN" sz="2400"/>
                </a:br>
                <a:r>
                  <a:rPr lang="en-GB" altLang="zh-CN" sz="240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ar-AE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zh-CN" sz="2400"/>
                  <a:t>is the </a:t>
                </a:r>
                <a:r>
                  <a:rPr lang="en-GB" altLang="zh-CN" sz="2400" b="1"/>
                  <a:t>adjusted utility</a:t>
                </a:r>
                <a:r>
                  <a:rPr lang="en-GB" altLang="zh-CN" sz="2400"/>
                  <a:t> after policy intervention.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400"/>
                  <a:t>The planner’s goal is to guide the system toward a </a:t>
                </a:r>
                <a:r>
                  <a:rPr lang="en-GB" altLang="zh-CN" sz="2400" b="1"/>
                  <a:t>more balanced configuration</a:t>
                </a:r>
                <a:r>
                  <a:rPr lang="en-GB" altLang="zh-CN" sz="2400"/>
                  <a:t>.</a:t>
                </a: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6BA99F87-5C7F-A8AE-494C-5E35FCB826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308" y="1991892"/>
                <a:ext cx="12009120" cy="3950505"/>
              </a:xfrm>
              <a:prstGeom prst="rect">
                <a:avLst/>
              </a:prstGeom>
              <a:blipFill>
                <a:blip r:embed="rId3"/>
                <a:stretch>
                  <a:fillRect l="-812" t="-772" b="-30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12A6ED96-8735-D7EF-B760-3024A4C5C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284" y="3487187"/>
            <a:ext cx="4156794" cy="185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00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4FB63-42AD-23AF-DAD3-19E3D7EB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6E97490-9EB3-FD71-8C79-CCB336B59FA7}"/>
              </a:ext>
            </a:extLst>
          </p:cNvPr>
          <p:cNvSpPr txBox="1"/>
          <p:nvPr/>
        </p:nvSpPr>
        <p:spPr>
          <a:xfrm>
            <a:off x="418432" y="923001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Structure for the Planner Version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9CDC2FCA-8D14-9D5F-681F-34A7BB5A6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809" y="1818936"/>
                <a:ext cx="8484936" cy="41160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GB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1. Simplified Parameters</a:t>
                </a:r>
                <a:endParaRPr lang="en-GB" altLang="zh-CN" sz="20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000"/>
                  <a:t>The model is simplified to </a:t>
                </a:r>
                <a:r>
                  <a:rPr lang="en-GB" altLang="zh-CN" sz="2000" b="1"/>
                  <a:t>2 Blocks</a:t>
                </a:r>
                <a:r>
                  <a:rPr lang="en-GB" altLang="zh-CN" sz="2000"/>
                  <a:t> to clearly show the planner’s effect.</a:t>
                </a:r>
              </a:p>
              <a:p>
                <a:pPr>
                  <a:buNone/>
                </a:pPr>
                <a:br>
                  <a:rPr lang="en-GB" altLang="zh-CN" sz="2000"/>
                </a:br>
                <a:endParaRPr lang="en-GB" altLang="zh-CN" sz="2000"/>
              </a:p>
              <a:p>
                <a:pPr>
                  <a:buNone/>
                </a:pPr>
                <a:r>
                  <a:rPr lang="en-GB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2. Independent Utility Functions</a:t>
                </a:r>
                <a:endParaRPr lang="en-GB" altLang="zh-CN" sz="20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000"/>
                  <a:t>Each block has its own </a:t>
                </a:r>
                <a:r>
                  <a:rPr lang="en-GB" altLang="zh-CN" sz="2000" b="1"/>
                  <a:t>utility function</a:t>
                </a:r>
                <a:r>
                  <a:rPr lang="en-GB" altLang="zh-CN" sz="200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altLang="zh-CN" sz="2000" b="1"/>
                  <a:t>Block 1:</a:t>
                </a:r>
                <a:r>
                  <a:rPr lang="en-GB" altLang="zh-CN" sz="2000"/>
                  <a:t> slightly improved (e.g., +0.1 reward)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altLang="zh-CN" sz="2000" b="1"/>
                  <a:t>Block 2:</a:t>
                </a:r>
                <a:r>
                  <a:rPr lang="en-GB" altLang="zh-CN" sz="2000"/>
                  <a:t> remains unchanged</a:t>
                </a:r>
              </a:p>
              <a:p>
                <a:pPr>
                  <a:buNone/>
                </a:pPr>
                <a:br>
                  <a:rPr lang="en-GB" altLang="zh-CN" sz="2000"/>
                </a:br>
                <a:endParaRPr lang="en-GB" altLang="zh-CN" sz="2000"/>
              </a:p>
              <a:p>
                <a:pPr>
                  <a:buNone/>
                </a:pPr>
                <a:r>
                  <a:rPr lang="en-GB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3. Movement Rule</a:t>
                </a:r>
                <a:endParaRPr lang="en-GB" altLang="zh-CN" sz="200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altLang="zh-CN" sz="2000" b="0" i="1">
                              <a:latin typeface="Cambria Math" panose="02040503050406030204" pitchFamily="18" charset="0"/>
                            </a:rPr>
                            <m:t>to</m:t>
                          </m:r>
                        </m:sub>
                      </m:sSub>
                      <m:r>
                        <a:rPr lang="ar-AE" altLang="zh-CN" sz="2000" b="0" i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ar-AE" altLang="zh-C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2000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altLang="zh-CN" sz="2000" b="0" i="1">
                              <a:latin typeface="Cambria Math" panose="02040503050406030204" pitchFamily="18" charset="0"/>
                            </a:rPr>
                            <m:t>from</m:t>
                          </m:r>
                        </m:sub>
                      </m:sSub>
                    </m:oMath>
                  </m:oMathPara>
                </a14:m>
                <a:endParaRPr lang="ar-AE" altLang="zh-CN" sz="2000" b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altLang="zh-CN" sz="2000"/>
                  <a:t>An agent moves </a:t>
                </a:r>
                <a:r>
                  <a:rPr lang="en-GB" altLang="zh-CN" sz="2000" b="1"/>
                  <a:t>only if the target block’s utility is higher</a:t>
                </a:r>
                <a:r>
                  <a:rPr lang="en-GB" altLang="zh-CN" sz="2000"/>
                  <a:t> than the current one.</a:t>
                </a:r>
              </a:p>
            </p:txBody>
          </p:sp>
        </mc:Choice>
        <mc:Fallback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9CDC2FCA-8D14-9D5F-681F-34A7BB5A6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809" y="1818936"/>
                <a:ext cx="8484936" cy="4116063"/>
              </a:xfrm>
              <a:prstGeom prst="rect">
                <a:avLst/>
              </a:prstGeom>
              <a:blipFill>
                <a:blip r:embed="rId3"/>
                <a:stretch>
                  <a:fillRect l="-718" t="-296" b="-221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92CADF75-58FC-6C79-AEF7-1162DB93A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87" y="4214491"/>
            <a:ext cx="6119483" cy="9114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28085B-957E-3607-CEEA-D65AB515A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126" y="2619904"/>
            <a:ext cx="3513238" cy="15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94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E0153-1854-F4DA-3BE7-1B6541F9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7D83A46-F338-83C7-83DD-E1E5C638619A}"/>
              </a:ext>
            </a:extLst>
          </p:cNvPr>
          <p:cNvSpPr txBox="1"/>
          <p:nvPr/>
        </p:nvSpPr>
        <p:spPr>
          <a:xfrm>
            <a:off x="498800" y="1165033"/>
            <a:ext cx="1119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</a:pPr>
            <a:r>
              <a:rPr lang="en-US" altLang="zh-CN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Result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665B9E0-CE61-82F5-EADF-4D249971C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10" y="2101551"/>
            <a:ext cx="691739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Observation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000"/>
              <a:t>After running the simulation, the </a:t>
            </a:r>
            <a:r>
              <a:rPr lang="en-US" altLang="zh-CN" sz="2000" b="1"/>
              <a:t>planner’s investment</a:t>
            </a:r>
            <a:r>
              <a:rPr lang="en-US" altLang="zh-CN" sz="2000"/>
              <a:t> makes </a:t>
            </a:r>
            <a:r>
              <a:rPr lang="en-US" altLang="zh-CN" sz="2000" b="1"/>
              <a:t>Block 1</a:t>
            </a:r>
            <a:r>
              <a:rPr lang="en-US" altLang="zh-CN" sz="2000"/>
              <a:t> much more attractive.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000"/>
              <a:t>As a result, most agents move toward Block 1 — forming a </a:t>
            </a:r>
            <a:r>
              <a:rPr lang="en-US" altLang="zh-CN" sz="2000" b="1"/>
              <a:t>single dominant center</a:t>
            </a:r>
            <a:r>
              <a:rPr lang="en-US" altLang="zh-CN" sz="2000"/>
              <a:t>.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000"/>
              <a:t>Instead of reducing segregation, the policy actually </a:t>
            </a:r>
            <a:r>
              <a:rPr lang="en-US" altLang="zh-CN" sz="2000" b="1"/>
              <a:t>intensifies it</a:t>
            </a:r>
            <a:r>
              <a:rPr lang="en-US" altLang="zh-CN" sz="2000"/>
              <a:t> — the city becomes </a:t>
            </a:r>
            <a:r>
              <a:rPr lang="en-US" altLang="zh-CN" sz="2000" b="1"/>
              <a:t>even more unevenly segregated</a:t>
            </a:r>
            <a:r>
              <a:rPr lang="en-US" altLang="zh-CN" sz="2000"/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C12996-85E3-C471-2027-24843E349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838" y="2392102"/>
            <a:ext cx="2655460" cy="14309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150DF71-BFDC-8D2E-99EF-F98821E46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642" y="3762800"/>
            <a:ext cx="4156794" cy="18587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42CD51F-B3D1-AA16-0402-9D5CDAF36950}"/>
              </a:ext>
            </a:extLst>
          </p:cNvPr>
          <p:cNvSpPr txBox="1"/>
          <p:nvPr/>
        </p:nvSpPr>
        <p:spPr>
          <a:xfrm>
            <a:off x="8506326" y="2207436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/>
              <a:t>Block 1    Block2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58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CE65-F9DE-D926-594E-6A133FAB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9294E7-CD5D-957A-89EB-0F9BA67E3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833" y="2090172"/>
            <a:ext cx="830433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200" b="1" i="0" u="none" strike="noStrike" cap="none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Try it yourself!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32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different parameters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observe changes in the plot.</a:t>
            </a:r>
            <a:endParaRPr kumimoji="0" lang="en-GB" altLang="zh-CN" sz="32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23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0132-0F3A-D6E9-43E9-33463ED5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319E00-5926-61FD-5003-4DFD9CA611CA}"/>
              </a:ext>
            </a:extLst>
          </p:cNvPr>
          <p:cNvSpPr txBox="1"/>
          <p:nvPr/>
        </p:nvSpPr>
        <p:spPr>
          <a:xfrm>
            <a:off x="996524" y="4929520"/>
            <a:ext cx="57575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/>
              <a:t>📬 </a:t>
            </a:r>
            <a:r>
              <a:rPr lang="en-US" altLang="zh-CN" sz="2000" b="1"/>
              <a:t>Contact Information:</a:t>
            </a:r>
            <a:endParaRPr lang="zh-CN" altLang="en-US" sz="2000" b="1"/>
          </a:p>
          <a:p>
            <a:endParaRPr lang="en-GB" altLang="zh-CN" sz="2000"/>
          </a:p>
          <a:p>
            <a:r>
              <a:rPr lang="en-GB" altLang="zh-CN" sz="2000">
                <a:hlinkClick r:id="rId3"/>
              </a:rPr>
              <a:t>zhanzhanzhao@cuhk.edu.cn</a:t>
            </a:r>
            <a:r>
              <a:rPr lang="en-GB" altLang="zh-CN" sz="2000"/>
              <a:t> (Dr. Zhao Zhanzhan)	</a:t>
            </a:r>
          </a:p>
          <a:p>
            <a:r>
              <a:rPr lang="en-GB" altLang="zh-CN" sz="2000">
                <a:hlinkClick r:id="rId4"/>
              </a:rPr>
              <a:t>225080011@link.cuhk.edu.cn</a:t>
            </a:r>
            <a:r>
              <a:rPr lang="en-GB" altLang="zh-CN" sz="2000"/>
              <a:t> (Jia Xiao )</a:t>
            </a:r>
          </a:p>
          <a:p>
            <a:endParaRPr lang="en-GB" altLang="zh-CN" sz="2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A5F852-FFDA-191C-C512-8737A1ECC13E}"/>
              </a:ext>
            </a:extLst>
          </p:cNvPr>
          <p:cNvSpPr txBox="1"/>
          <p:nvPr/>
        </p:nvSpPr>
        <p:spPr>
          <a:xfrm>
            <a:off x="2226365" y="2097975"/>
            <a:ext cx="773926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1500" b="1"/>
              <a:t>Thank You!</a:t>
            </a:r>
          </a:p>
          <a:p>
            <a:pPr algn="ctr"/>
            <a:r>
              <a:rPr lang="en-US" altLang="zh-CN" sz="2800"/>
              <a:t>Thank you for your attention and participation.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2569692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1809</TotalTime>
  <Words>1093</Words>
  <Application>Microsoft Office PowerPoint</Application>
  <PresentationFormat>宽屏</PresentationFormat>
  <Paragraphs>157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Arial</vt:lpstr>
      <vt:lpstr>Calibri</vt:lpstr>
      <vt:lpstr>Calibri Light</vt:lpstr>
      <vt:lpstr>Cambria Math</vt:lpstr>
      <vt:lpstr>Wingdings</vt:lpstr>
      <vt:lpstr>Office 主题​​</vt:lpstr>
      <vt:lpstr>Lab 3:  Studies on Heterogeneity and City Policy Impacts  (AIE1901)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 JIA</dc:creator>
  <cp:lastModifiedBy>Xiao JIA</cp:lastModifiedBy>
  <cp:revision>33</cp:revision>
  <dcterms:created xsi:type="dcterms:W3CDTF">2025-08-06T08:03:29Z</dcterms:created>
  <dcterms:modified xsi:type="dcterms:W3CDTF">2025-10-15T19:21:05Z</dcterms:modified>
</cp:coreProperties>
</file>